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سند AI: أداة تحقق للدعاة وصنّاع المحتوى. المسار: أدوات المعرفة والتحقق لتمكين المعرّفين بالإسلام.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AI\islamicaich\antigravity\claude\sanadai\docs\presentation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4008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373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سند AI</a:t>
            </a:r>
            <a:endParaRPr lang="ar-SA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88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قبل أن تنشر</a:t>
            </a:r>
            <a:endParaRPr lang="ar-SA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779215" y="3566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700" dirty="0">
                <a:solidFill>
                  <a:srgbClr val="E6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ذكية للتحقق من الآيات والأحاديث والأقوال المتداولة قبل نشرها: تجد النص الأصلي في المصادر الموثوقة، وتنقل أحكام العلماء كما هي، وتقترح البديل الصحيح — دون أن يُصدر النظام حكمًا من عنده.</a:t>
            </a:r>
            <a:endParaRPr lang="ar-SA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SA" alt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المسار: </a:t>
            </a:r>
            <a:pPr algn="r" indent="0" marL="0">
              <a:spcAft>
                <a:spcPts val="400"/>
              </a:spcAft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المعرفة والتحقق لتمكين المعرّفين بالإسلام</a:t>
            </a:r>
            <a:endParaRPr lang="ar-SA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SA" alt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مقدّم الفكرة: </a:t>
            </a:r>
            <a:pPr algn="r" indent="0" marL="0">
              <a:spcAft>
                <a:spcPts val="400"/>
              </a:spcAft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 أبايزيد مساعد — مشاركة فردية</a:t>
            </a:r>
            <a:endParaRPr lang="ar-SA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9FC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sanadai-zl6q.onrender.com   ·   github.com/githubsud/sanadai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المشكلة: نصوص تُنسب إلى النبي ﷺ دون تثبّت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8122615" y="15087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7830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153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396935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أحاديث موضوعة وضعيفة</a:t>
            </a:r>
            <a:endParaRPr lang="ar-SA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396935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 تبدأ بـ«قال رسول الله ﷺ» ولا أصل لها، تُتداول على نطاق واسع.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4327855" y="15087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16775" y="17830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1677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02175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ألفاظ آيات مُحرّفة</a:t>
            </a:r>
            <a:endParaRPr lang="ar-SA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02175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تُنقل آيات بكلمة مغيَّرة أو ناقصة، ويصعب اكتشاف ذلك بالعين.</a:t>
            </a:r>
            <a:endParaRPr lang="ar-SA" sz="1400" dirty="0"/>
          </a:p>
        </p:txBody>
      </p:sp>
      <p:sp>
        <p:nvSpPr>
          <p:cNvPr id="13" name="Shape 11"/>
          <p:cNvSpPr/>
          <p:nvPr/>
        </p:nvSpPr>
        <p:spPr>
          <a:xfrm>
            <a:off x="533095" y="15087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2015" y="17830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20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اليدوي مرهق</a:t>
            </a:r>
            <a:endParaRPr lang="ar-SA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07415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 البحث في كتب متعددة ومعرفة أحكام العلماء، فيُعاد النشر بحسن نية.</a:t>
            </a:r>
            <a:endParaRPr lang="ar-SA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94415" cy="1874520"/>
          </a:xfrm>
          <a:prstGeom prst="roundRect">
            <a:avLst>
              <a:gd name="adj" fmla="val 5854"/>
            </a:avLst>
          </a:prstGeom>
          <a:solidFill>
            <a:srgbClr val="FBE7E4"/>
          </a:solidFill>
          <a:ln w="12700">
            <a:solidFill>
              <a:srgbClr val="FBE7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34340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حقيقي متداول</a:t>
            </a:r>
            <a:endParaRPr lang="ar-SA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70916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«اطلبوا العلم ولو بالصين»</a:t>
            </a:r>
            <a:endParaRPr lang="ar-SA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2578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قال فيه ابن حبان: «باطل لا أصل له» (المجروحين 1/489)، وحكم عليه الألباني بأنه «باطل» — ومع ذلك يُنسب إلى النبي ﷺ في آلاف المنشورات.</a:t>
            </a:r>
            <a:endParaRPr lang="ar-SA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الصق المنشور… واحصل على الأصل وحكم العلماء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9037015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45920"/>
            <a:ext cx="502920" cy="502920"/>
          </a:xfrm>
          <a:prstGeom prst="ellipse">
            <a:avLst/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153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265615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الصق النص أو الصورة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65615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بالعربية أو الإنجليزية، من أي منصة.</a:t>
            </a:r>
            <a:endParaRPr lang="ar-SA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835847" y="23088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6248095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22615" y="1645920"/>
            <a:ext cx="502920" cy="502920"/>
          </a:xfrm>
          <a:prstGeom prst="ellipse">
            <a:avLst/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261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6695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الادعاءات</a:t>
            </a:r>
            <a:endParaRPr lang="ar-SA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76695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آية وحديث وقول منسوب، بنصه الحرفي من المنشور.</a:t>
            </a:r>
            <a:endParaRPr lang="ar-SA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046927" y="23088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400" dirty="0"/>
          </a:p>
        </p:txBody>
      </p:sp>
      <p:sp>
        <p:nvSpPr>
          <p:cNvPr id="15" name="Shape 13"/>
          <p:cNvSpPr/>
          <p:nvPr/>
        </p:nvSpPr>
        <p:spPr>
          <a:xfrm>
            <a:off x="3459175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3695" y="1645920"/>
            <a:ext cx="502920" cy="502920"/>
          </a:xfrm>
          <a:prstGeom prst="ellipse">
            <a:avLst/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3369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87775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ونقل الأحكام</a:t>
            </a:r>
            <a:endParaRPr lang="ar-SA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87775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 الأصلي ورقمه، ومقارنة الألفاظ كلمة بكلمة، وأحكام العلماء كما هي.</a:t>
            </a:r>
            <a:endParaRPr lang="ar-SA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58007" y="23088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400" dirty="0"/>
          </a:p>
        </p:txBody>
      </p:sp>
      <p:sp>
        <p:nvSpPr>
          <p:cNvPr id="21" name="Shape 19"/>
          <p:cNvSpPr/>
          <p:nvPr/>
        </p:nvSpPr>
        <p:spPr>
          <a:xfrm>
            <a:off x="670255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44775" y="1645920"/>
            <a:ext cx="502920" cy="502920"/>
          </a:xfrm>
          <a:prstGeom prst="ellipse">
            <a:avLst/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44775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8855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البديل وجهّز للنشر</a:t>
            </a:r>
            <a:endParaRPr lang="ar-SA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98855" y="2697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بديل صحيح للضعيف والموضوع، ومنشور جاهز بالنصوص الأصلية والتوثيق.</a:t>
            </a:r>
            <a:endParaRPr lang="ar-SA" sz="1250" dirty="0"/>
          </a:p>
        </p:txBody>
      </p:sp>
      <p:pic>
        <p:nvPicPr>
          <p:cNvPr id="26" name="Image 0" descr="C:\AI\islamicaich\antigravity\claude\sanadai\docs\presentation\crop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94760"/>
            <a:ext cx="11094415" cy="24231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التطبيق: منشور بالإنجليزية… وحكم العلماء بالعربية</a:t>
            </a:r>
            <a:endParaRPr lang="ar-SA" sz="3200" dirty="0"/>
          </a:p>
        </p:txBody>
      </p:sp>
      <p:pic>
        <p:nvPicPr>
          <p:cNvPr id="3" name="Image 0" descr="C:\AI\islamicaich\antigravity\claude\sanadai\docs\presentation\crop-fabric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295" y="1325880"/>
            <a:ext cx="722376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94760" y="146304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794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4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يربط النص الإنجليزي بأصله العربي في الدرر السنية.</a:t>
            </a:r>
            <a:endParaRPr lang="ar-SA" sz="1450" dirty="0"/>
          </a:p>
        </p:txBody>
      </p:sp>
      <p:sp>
        <p:nvSpPr>
          <p:cNvPr id="7" name="Shape 4"/>
          <p:cNvSpPr/>
          <p:nvPr/>
        </p:nvSpPr>
        <p:spPr>
          <a:xfrm>
            <a:off x="3794760" y="265176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94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4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ينقل الأحكام كما هي: ابن حبان «باطل لا أصل له»، والألباني «باطل»، وغيرهما.</a:t>
            </a:r>
            <a:endParaRPr lang="ar-SA" sz="1450" dirty="0"/>
          </a:p>
        </p:txBody>
      </p:sp>
      <p:sp>
        <p:nvSpPr>
          <p:cNvPr id="10" name="Shape 7"/>
          <p:cNvSpPr/>
          <p:nvPr/>
        </p:nvSpPr>
        <p:spPr>
          <a:xfrm>
            <a:off x="3794760" y="38404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947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94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4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إشارة حمراء: منسوب خطأً أو لا أصل له.</a:t>
            </a:r>
            <a:endParaRPr lang="ar-SA" sz="1450" dirty="0"/>
          </a:p>
        </p:txBody>
      </p:sp>
      <p:sp>
        <p:nvSpPr>
          <p:cNvPr id="13" name="Shape 10"/>
          <p:cNvSpPr/>
          <p:nvPr/>
        </p:nvSpPr>
        <p:spPr>
          <a:xfrm>
            <a:off x="3794760" y="502920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947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4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يقترح بديلًا صحيحًا بالمعنى نفسه مع حكمه ومصدره.</a:t>
            </a:r>
            <a:endParaRPr lang="ar-SA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إشارة واضحة ودرجة سند لكل ادعاء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الدرجة تقيس ثقة المطابقة والأدلة — وليست حكمًا شرعيًا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8122615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57255" y="2057400"/>
            <a:ext cx="411480" cy="411480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51215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موثّق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351215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آية مطابقة لنص المصحف، أو حديث صحيح/حسن.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8305495" y="361188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96935" y="37216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ar-SA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219895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«قل هو الله أحد»</a:t>
            </a:r>
            <a:endParaRPr lang="ar-SA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219895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الإخلاص 112:1</a:t>
            </a:r>
            <a:endParaRPr lang="ar-SA" sz="1100" dirty="0"/>
          </a:p>
        </p:txBody>
      </p:sp>
      <p:sp>
        <p:nvSpPr>
          <p:cNvPr id="12" name="Shape 10"/>
          <p:cNvSpPr/>
          <p:nvPr/>
        </p:nvSpPr>
        <p:spPr>
          <a:xfrm>
            <a:off x="8305495" y="480060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96935" y="4910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ar-SA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219895" y="4892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«من كان يؤمن بالله واليوم الآخر فليكرم ضيفه»</a:t>
            </a:r>
            <a:endParaRPr lang="ar-SA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19895" y="5440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صحيح البخاري 6138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4327855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DF3DF"/>
          </a:solidFill>
          <a:ln w="12700">
            <a:solidFill>
              <a:srgbClr val="FDF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2495" y="2057400"/>
            <a:ext cx="411480" cy="41148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6455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 مراجعة</a:t>
            </a:r>
            <a:endParaRPr lang="ar-SA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56455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حديث ضعيف، أو ألفاظ مغيَّرة، أو تطابق بالمعنى فقط.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4510735" y="361188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02175" y="37216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ar-SA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425135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«كما تكونوا يولى عليكم»</a:t>
            </a:r>
            <a:endParaRPr lang="ar-SA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25135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أحكام: «ضعيف»</a:t>
            </a:r>
            <a:endParaRPr lang="ar-SA" sz="1100" dirty="0"/>
          </a:p>
        </p:txBody>
      </p:sp>
      <p:sp>
        <p:nvSpPr>
          <p:cNvPr id="24" name="Shape 22"/>
          <p:cNvSpPr/>
          <p:nvPr/>
        </p:nvSpPr>
        <p:spPr>
          <a:xfrm>
            <a:off x="533095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BE7E4"/>
          </a:solidFill>
          <a:ln w="12700">
            <a:solidFill>
              <a:srgbClr val="FBE7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7735" y="205740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1695" y="2029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منسوب خطأً أو لا أصل له</a:t>
            </a:r>
            <a:endParaRPr lang="ar-SA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61695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عليه العلماء بالوضع، أو لم يُعثر عليه في المصادر المعتمدة.</a:t>
            </a:r>
            <a:endParaRPr lang="ar-SA" sz="1300" dirty="0"/>
          </a:p>
        </p:txBody>
      </p:sp>
      <p:sp>
        <p:nvSpPr>
          <p:cNvPr id="28" name="Shape 26"/>
          <p:cNvSpPr/>
          <p:nvPr/>
        </p:nvSpPr>
        <p:spPr>
          <a:xfrm>
            <a:off x="715975" y="361188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07415" y="37216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ar-SA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630375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«اطلبوا العلم ولو بالصين»</a:t>
            </a:r>
            <a:endParaRPr lang="ar-SA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630375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«باطل لا أصل له»</a:t>
            </a:r>
            <a:endParaRPr lang="ar-SA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الأمانة العلمية: مبادئ لا يتجاوزها النظام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92024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4375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9164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حكم من عند النظام</a:t>
            </a:r>
            <a:endParaRPr lang="ar-SA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67128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حكم منقول من مصدره باسم قائله وكتابه ورقمه. الدرجة مقياس لثقة المطابقة، لا حكم شرعي.</a:t>
            </a:r>
            <a:endParaRPr lang="ar-SA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74375" y="347472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74375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4612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يولّد الذكاء الاصطناعي نصًا شرعيًا</a:t>
            </a:r>
            <a:endParaRPr lang="ar-SA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21608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دوره مقصور على استخراج الادعاءات وقراءة الصور، ويُرفض آليًا أي نص ليس في منشور المستخدم حرفيًا.</a:t>
            </a:r>
            <a:endParaRPr lang="ar-SA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74375" y="502920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74375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00600"/>
            <a:ext cx="9539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نتيجة معها دليلها</a:t>
            </a:r>
            <a:endParaRPr lang="ar-SA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276088"/>
            <a:ext cx="953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لم يُعثر عليه يُقال فيه: «لم يُعثر عليه في المصادر المعتمدة». ونص القرآن حرفيًا من مشروع تنزيل دون تعديل.</a:t>
            </a:r>
            <a:endParaRPr lang="ar-SA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FC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يعمل: بحث هجين ومطابقة كلمة بكلمة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100154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1068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المنشور</a:t>
            </a:r>
            <a:endParaRPr lang="ar-SA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1068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أو صورة</a:t>
            </a:r>
            <a:endParaRPr lang="ar-SA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1755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81866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780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الاستخراج</a:t>
            </a:r>
            <a:endParaRPr lang="ar-SA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780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Claude + قواعد</a:t>
            </a:r>
            <a:endParaRPr lang="ar-SA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85455" y="1755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200" dirty="0"/>
          </a:p>
        </p:txBody>
      </p:sp>
      <p:sp>
        <p:nvSpPr>
          <p:cNvPr id="11" name="Shape 9"/>
          <p:cNvSpPr/>
          <p:nvPr/>
        </p:nvSpPr>
        <p:spPr>
          <a:xfrm>
            <a:off x="63578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92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</a:t>
            </a:r>
            <a:endParaRPr lang="ar-SA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92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نصي + دلالي + إعادة ترتيب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56655" y="1755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45290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204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</a:t>
            </a:r>
            <a:endParaRPr lang="ar-SA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204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بكلمة وإبراز الفروق</a:t>
            </a:r>
            <a:endParaRPr lang="ar-SA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27855" y="1755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200" dirty="0"/>
          </a:p>
        </p:txBody>
      </p:sp>
      <p:sp>
        <p:nvSpPr>
          <p:cNvPr id="19" name="Shape 17"/>
          <p:cNvSpPr/>
          <p:nvPr/>
        </p:nvSpPr>
        <p:spPr>
          <a:xfrm>
            <a:off x="27002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7916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الأحكام</a:t>
            </a:r>
            <a:endParaRPr lang="ar-SA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916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منقولة من المصادر</a:t>
            </a:r>
            <a:endParaRPr lang="ar-SA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99055" y="17556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ar-SA" sz="1200" dirty="0"/>
          </a:p>
        </p:txBody>
      </p:sp>
      <p:sp>
        <p:nvSpPr>
          <p:cNvPr id="23" name="Shape 21"/>
          <p:cNvSpPr/>
          <p:nvPr/>
        </p:nvSpPr>
        <p:spPr>
          <a:xfrm>
            <a:off x="871423" y="1371600"/>
            <a:ext cx="1627632" cy="1143000"/>
          </a:xfrm>
          <a:prstGeom prst="roundRect">
            <a:avLst>
              <a:gd name="adj" fmla="val 9600"/>
            </a:avLst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2863" y="1508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</a:t>
            </a:r>
            <a:endParaRPr lang="ar-SA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2863" y="19202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E6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إشارة ودرجة وبديل</a:t>
            </a:r>
            <a:endParaRPr lang="ar-SA" sz="1100" dirty="0"/>
          </a:p>
        </p:txBody>
      </p:sp>
      <p:sp>
        <p:nvSpPr>
          <p:cNvPr id="26" name="Shape 24"/>
          <p:cNvSpPr/>
          <p:nvPr/>
        </p:nvSpPr>
        <p:spPr>
          <a:xfrm>
            <a:off x="8122615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96935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6,236</a:t>
            </a:r>
            <a:pPr algn="r" indent="0" marL="0">
              <a:buNone/>
            </a:pPr>
            <a:r>
              <a:rPr lang="ar-SA" altLang="en-US" sz="1600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آية</a:t>
            </a:r>
            <a:endParaRPr lang="ar-SA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396935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المصحف بالرسم العثماني — مشروع تنزيل</a:t>
            </a:r>
            <a:endParaRPr lang="ar-SA" sz="1250" dirty="0"/>
          </a:p>
        </p:txBody>
      </p:sp>
      <p:sp>
        <p:nvSpPr>
          <p:cNvPr id="29" name="Shape 27"/>
          <p:cNvSpPr/>
          <p:nvPr/>
        </p:nvSpPr>
        <p:spPr>
          <a:xfrm>
            <a:off x="4327855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602175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50,703</a:t>
            </a:r>
            <a:pPr algn="r" indent="0" marL="0">
              <a:buNone/>
            </a:pPr>
            <a:r>
              <a:rPr lang="ar-SA" altLang="en-US" sz="1600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حديثًا</a:t>
            </a:r>
            <a:endParaRPr lang="ar-SA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4602175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17 كتابًا بالعربية والإنجليزية، و82 ألف حكم بأسماء المحدّثين</a:t>
            </a:r>
            <a:endParaRPr lang="ar-SA" sz="1250" dirty="0"/>
          </a:p>
        </p:txBody>
      </p:sp>
      <p:sp>
        <p:nvSpPr>
          <p:cNvPr id="32" name="Shape 30"/>
          <p:cNvSpPr/>
          <p:nvPr/>
        </p:nvSpPr>
        <p:spPr>
          <a:xfrm>
            <a:off x="533095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F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7415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الدرر السنية</a:t>
            </a:r>
            <a:pPr algn="r" indent="0" marL="0">
              <a:buNone/>
            </a:pPr>
            <a:endParaRPr lang="ar-SA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807415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أحكام الأحاديث المتداولة و«الصحيح البديل»</a:t>
            </a:r>
            <a:endParaRPr lang="ar-SA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454335" y="4754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التقنيات:</a:t>
            </a:r>
            <a:endParaRPr lang="ar-SA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54880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5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SQLite FTS5 · BGE-M3 · bge-reranker-v2-m3 · ChromaDB · Gemini / Claude · HTML/CSS/JS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2120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الحرفي أولًا: النص المنقول كما هو يُحسم في أقل من ثانية، والنماذج الدلالية للمطابقة بالمعنى وعبر اللغتين.</a:t>
            </a:r>
            <a:endParaRPr lang="ar-SA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النتائج: تقييم على 120 حالة اختبار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أحاديث صحيحة بصيغ مختلفة، وأحاديث ضعيفة وموضوعة متداولة، وآيات بعضها مُغيَّر عمدًا، وأمثال منسوبة خطأً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9037015" y="182880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219895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54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265615" y="3337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إلى المصدر الصحيح ضمن أفضل 5 نتائج</a:t>
            </a:r>
            <a:endParaRPr lang="ar-SA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265615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المستهدف ≥ 90%</a:t>
            </a:r>
            <a:endParaRPr lang="ar-SA" sz="1150" dirty="0"/>
          </a:p>
        </p:txBody>
      </p:sp>
      <p:sp>
        <p:nvSpPr>
          <p:cNvPr id="8" name="Shape 6"/>
          <p:cNvSpPr/>
          <p:nvPr/>
        </p:nvSpPr>
        <p:spPr>
          <a:xfrm>
            <a:off x="6248095" y="182880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30975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54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76695" y="3337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الإشارة الضوئية</a:t>
            </a:r>
            <a:endParaRPr lang="ar-SA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695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موثّق / مراجعة / لا أصل له</a:t>
            </a:r>
            <a:endParaRPr lang="ar-SA" sz="1150" dirty="0"/>
          </a:p>
        </p:txBody>
      </p:sp>
      <p:sp>
        <p:nvSpPr>
          <p:cNvPr id="12" name="Shape 10"/>
          <p:cNvSpPr/>
          <p:nvPr/>
        </p:nvSpPr>
        <p:spPr>
          <a:xfrm>
            <a:off x="3459175" y="182880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42055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54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687775" y="3337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الادعاءات</a:t>
            </a:r>
            <a:endParaRPr lang="ar-SA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87775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نص المنشور</a:t>
            </a:r>
            <a:endParaRPr lang="ar-SA" sz="1150" dirty="0"/>
          </a:p>
        </p:txBody>
      </p:sp>
      <p:sp>
        <p:nvSpPr>
          <p:cNvPr id="16" name="Shape 14"/>
          <p:cNvSpPr/>
          <p:nvPr/>
        </p:nvSpPr>
        <p:spPr>
          <a:xfrm>
            <a:off x="670255" y="1828800"/>
            <a:ext cx="2606040" cy="3063240"/>
          </a:xfrm>
          <a:prstGeom prst="roundRect">
            <a:avLst>
              <a:gd name="adj" fmla="val 4211"/>
            </a:avLst>
          </a:prstGeom>
          <a:solidFill>
            <a:srgbClr val="0B3B3A"/>
          </a:solidFill>
          <a:ln w="12700">
            <a:solidFill>
              <a:srgbClr val="0B3B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3135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5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98855" y="3337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ضعيف أو موضوع عُرض على أنه موثّق</a:t>
            </a:r>
            <a:endParaRPr lang="ar-SA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98855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E6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قبل كل شيء</a:t>
            </a:r>
            <a:endParaRPr lang="ar-SA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الكامل وطريقة القياس منشوران في المستودع: docs/EVALUATION.md</a:t>
            </a:r>
            <a:endParaRPr lang="ar-SA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«جهّز للنشر» وقراءة الصور</a:t>
            </a:r>
            <a:endParaRPr lang="ar-SA" sz="3200" dirty="0"/>
          </a:p>
        </p:txBody>
      </p:sp>
      <p:pic>
        <p:nvPicPr>
          <p:cNvPr id="3" name="Image 0" descr="C:\AI\islamicaich\antigravity\claude\sanadai\docs\presentation\crop-pre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855" y="1325880"/>
            <a:ext cx="5029200" cy="4800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500" dirty="0">
                <a:solidFill>
                  <a:srgbClr val="16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يعيد كتابة المنشور: كل نص متداول يُستبدل بأصله حرفيًا مع التوثيق، وما لا أصل له يُستبدل ببديل صحيح أو يُحذف — ثم يتحقق آليًا أن كل نص شرعي موجود حرفيًا في المصادر.</a:t>
            </a:r>
            <a:endParaRPr lang="ar-SA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926080"/>
            <a:ext cx="5852160" cy="2331720"/>
          </a:xfrm>
          <a:prstGeom prst="roundRect">
            <a:avLst>
              <a:gd name="adj" fmla="val 470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1" descr="C:\AI\islamicaich\antigravity\claude\sanadai\docs\demo\synthetic_p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56" y="3063240"/>
            <a:ext cx="3942929" cy="1783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شاشة لمنشور (مثال مصنوع للاختبار): يقرأ النظام النص ويتحقق من الادعاءين.</a:t>
            </a:r>
            <a:endParaRPr lang="ar-SA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مباشرة عبر واتساب · إخراج بالعربية أو الإنجليزية مع ترجمة المعاني</a:t>
            </a:r>
            <a:endParaRPr lang="ar-SA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5B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المتوقع والخطوة القادمة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11140135" y="146304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40135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82335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الدعاة والمعرّفون بالإسلام</a:t>
            </a:r>
            <a:endParaRPr lang="ar-SA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1801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موثّق بالنص الأصلي ومصدره.</a:t>
            </a:r>
            <a:endParaRPr lang="ar-SA" sz="1400" dirty="0"/>
          </a:p>
        </p:txBody>
      </p:sp>
      <p:sp>
        <p:nvSpPr>
          <p:cNvPr id="7" name="Shape 5"/>
          <p:cNvSpPr/>
          <p:nvPr/>
        </p:nvSpPr>
        <p:spPr>
          <a:xfrm>
            <a:off x="11140135" y="2395728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40135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2350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صنّاع المحتوى</a:t>
            </a:r>
            <a:endParaRPr lang="ar-SA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882335" y="2734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في ثوانٍ بدل البحث اليدوي.</a:t>
            </a:r>
            <a:endParaRPr lang="ar-SA" sz="1400" dirty="0"/>
          </a:p>
        </p:txBody>
      </p:sp>
      <p:sp>
        <p:nvSpPr>
          <p:cNvPr id="11" name="Shape 9"/>
          <p:cNvSpPr/>
          <p:nvPr/>
        </p:nvSpPr>
        <p:spPr>
          <a:xfrm>
            <a:off x="11140135" y="3328416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3282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عامة المستخدمين</a:t>
            </a:r>
            <a:endParaRPr lang="ar-SA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882335" y="3666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ثقافة التثبت قبل المشاركة.</a:t>
            </a:r>
            <a:endParaRPr lang="ar-SA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14655F"/>
          </a:solidFill>
          <a:ln w="12700">
            <a:solidFill>
              <a:srgbClr val="1465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التطوير</a:t>
            </a:r>
            <a:endParaRPr lang="ar-SA" sz="1700" dirty="0"/>
          </a:p>
        </p:txBody>
      </p:sp>
      <p:sp>
        <p:nvSpPr>
          <p:cNvPr id="17" name="Shape 15"/>
          <p:cNvSpPr/>
          <p:nvPr/>
        </p:nvSpPr>
        <p:spPr>
          <a:xfrm>
            <a:off x="5166360" y="2221992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علمية من متخصصين لقوائم الاختبار والأحاديث المتداولة</a:t>
            </a:r>
            <a:endParaRPr lang="ar-SA" sz="1350" dirty="0"/>
          </a:p>
        </p:txBody>
      </p:sp>
      <p:sp>
        <p:nvSpPr>
          <p:cNvPr id="19" name="Shape 17"/>
          <p:cNvSpPr/>
          <p:nvPr/>
        </p:nvSpPr>
        <p:spPr>
          <a:xfrm>
            <a:off x="5166360" y="2724912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606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توسيع قاعدة الأحاديث الضعيفة والموضوعة المتداولة</a:t>
            </a:r>
            <a:endParaRPr lang="ar-SA" sz="1350" dirty="0"/>
          </a:p>
        </p:txBody>
      </p:sp>
      <p:sp>
        <p:nvSpPr>
          <p:cNvPr id="21" name="Shape 19"/>
          <p:cNvSpPr/>
          <p:nvPr/>
        </p:nvSpPr>
        <p:spPr>
          <a:xfrm>
            <a:off x="5166360" y="3227832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108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لغات إضافية: الأردية، الإندونيسية، الفرنسية</a:t>
            </a:r>
            <a:endParaRPr lang="ar-SA" sz="1350" dirty="0"/>
          </a:p>
        </p:txBody>
      </p:sp>
      <p:sp>
        <p:nvSpPr>
          <p:cNvPr id="23" name="Shape 21"/>
          <p:cNvSpPr/>
          <p:nvPr/>
        </p:nvSpPr>
        <p:spPr>
          <a:xfrm>
            <a:off x="5166360" y="3730752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611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بوت واتساب وإضافة للمتصفح للتحقق من داخل المحادثة</a:t>
            </a:r>
            <a:endParaRPr lang="ar-SA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8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الآن</a:t>
            </a:r>
            <a:endParaRPr lang="ar-SA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sanadai-zl6q.onrender.com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b="1" dirty="0">
                <a:solidFill>
                  <a:srgbClr val="14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github.com/githubsud/sanadai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13855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0B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سند AI — تحقّق قبل أن تنشر</a:t>
            </a:r>
            <a:endParaRPr lang="ar-SA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FC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سند AI — تحقّق قبل أن تنشر</dc:title>
  <dc:subject>PptxGenJS Presentation</dc:subject>
  <dc:creator>Ahmed Abayazid Mussaad</dc:creator>
  <cp:lastModifiedBy>Ahmed Abayazid Mussaad</cp:lastModifiedBy>
  <cp:revision>1</cp:revision>
  <dcterms:created xsi:type="dcterms:W3CDTF">2026-09-27T15:33:57Z</dcterms:created>
  <dcterms:modified xsi:type="dcterms:W3CDTF">2026-09-27T15:33:57Z</dcterms:modified>
</cp:coreProperties>
</file>